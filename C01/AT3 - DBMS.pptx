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</p:sldIdLst>
  <p:sldSz cx="12192000" cy="6858000"/>
  <p:notesSz cx="6858000" cy="12192000"/>
  <p:embeddedFontLst>
    <p:embeddedFont>
      <p:font typeface="Darker Grotesque Bold" panose="020B0604020202020204" charset="0"/>
      <p:regular r:id="rId11"/>
    </p:embeddedFont>
    <p:embeddedFont>
      <p:font typeface="Darker Grotesque Medium" panose="020B0604020202020204" charset="0"/>
      <p:regular r:id="rId12"/>
    </p:embeddedFont>
    <p:embeddedFont>
      <p:font typeface="Darker Grotesque Semi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891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 as a way to move from university requirements to a reliable database design. The deck follows the model from entities and relationships through relational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overall path. We first describe the university as it exists, then represent that reality in an ER model, and finally implement the design as related relational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distinction between an entity and its attributes. STUDENT is an object in the university context. Student_ID, Name, and Email describe that object, while the key identifies one student instance uniquely.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relationship aloud. A STUDENT enrolls in a COURSE, an INSTRUCTOR teaches a COURSE, and a DEPARTMENT employs INSTRUCTOR and offers COURSE. Verbs keep the model tied to university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Enrollment is the associative entity that resolves the many-to-many relationship. It belongs to exactly one student and one course, while Semester in the composite key allows repeat enrollment across semesters.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quality check. Good design makes keys and constraints explicit. The predictable failures are missing keys, inaccurate cardinality, unresolved many-to-many relationships, multivalued attributes, and undocumented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the model back to the lifecycle. The same blueprint supports admissions, registration, faculty and department management, and academic reporting. End with the approved takeaway about a reliable university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references to close the academic presentation, then invite questions about the model, the constraints, or the relational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9D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D9D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2819400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DATABASE MANAGEMENT SYSTEMS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3117850"/>
            <a:ext cx="11582110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Entity-Relationship</a:t>
            </a:r>
            <a:endParaRPr lang="en-US" sz="7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Modeling for a</a:t>
            </a:r>
            <a:endParaRPr lang="en-US" sz="7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University Database</a:t>
            </a:r>
            <a:endParaRPr lang="en-US" sz="7400" dirty="0"/>
          </a:p>
        </p:txBody>
      </p:sp>
      <p:sp>
        <p:nvSpPr>
          <p:cNvPr id="4" name="Shape 2"/>
          <p:cNvSpPr/>
          <p:nvPr/>
        </p:nvSpPr>
        <p:spPr>
          <a:xfrm>
            <a:off x="304792" y="5991225"/>
            <a:ext cx="3822009" cy="38100"/>
          </a:xfrm>
          <a:prstGeom prst="roundRect">
            <a:avLst>
              <a:gd name="adj" fmla="val 49999"/>
            </a:avLst>
          </a:prstGeom>
          <a:solidFill>
            <a:srgbClr val="A8C5DC"/>
          </a:solidFill>
          <a:ln/>
        </p:spPr>
      </p:sp>
      <p:sp>
        <p:nvSpPr>
          <p:cNvPr id="5" name="Text 3"/>
          <p:cNvSpPr/>
          <p:nvPr/>
        </p:nvSpPr>
        <p:spPr>
          <a:xfrm>
            <a:off x="304792" y="6219825"/>
            <a:ext cx="1158211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ROHIT L - 192511236</a:t>
            </a:r>
            <a:endParaRPr lang="en-US" sz="1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DATABASE MANAGEMENT SYSTEMS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AEF81B-2666-7ADC-4D37-6AC3412B9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529" y="6575424"/>
            <a:ext cx="1684166" cy="282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23850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100" spc="63" dirty="0">
                <a:solidFill>
                  <a:srgbClr val="963C21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01 · FROM REALITY TO 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22660"/>
            <a:ext cx="11582110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ER modeling turns university reality into a database blueprint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04792" y="2136477"/>
            <a:ext cx="1188690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Design the structure before implementation.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4792" y="2415877"/>
            <a:ext cx="3657509" cy="3032919"/>
          </a:xfrm>
          <a:prstGeom prst="rect">
            <a:avLst/>
          </a:prstGeom>
          <a:solidFill>
            <a:srgbClr val="CCC5B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619077"/>
            <a:ext cx="3251119" cy="1842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987" y="4675155"/>
            <a:ext cx="32511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University context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7987" y="5090021"/>
            <a:ext cx="345431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Model real-world objects and how they connect.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67093" y="2415877"/>
            <a:ext cx="3657509" cy="3032919"/>
          </a:xfrm>
          <a:prstGeom prst="rect">
            <a:avLst/>
          </a:prstGeom>
          <a:solidFill>
            <a:srgbClr val="A8C5DC"/>
          </a:solidFill>
          <a:ln/>
        </p:spPr>
      </p:sp>
      <p:sp>
        <p:nvSpPr>
          <p:cNvPr id="10" name="Text 7"/>
          <p:cNvSpPr/>
          <p:nvPr/>
        </p:nvSpPr>
        <p:spPr>
          <a:xfrm>
            <a:off x="4470288" y="2629661"/>
            <a:ext cx="32511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ER concepts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470288" y="3044527"/>
            <a:ext cx="325111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Make entities, attributes, relationships, and constraints visible.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394" y="2415877"/>
            <a:ext cx="3657509" cy="3032919"/>
          </a:xfrm>
          <a:prstGeom prst="rect">
            <a:avLst/>
          </a:prstGeom>
          <a:solidFill>
            <a:srgbClr val="CCC5BA"/>
          </a:solidFill>
          <a:ln/>
        </p:spPr>
      </p:sp>
      <p:sp>
        <p:nvSpPr>
          <p:cNvPr id="13" name="Text 10"/>
          <p:cNvSpPr/>
          <p:nvPr/>
        </p:nvSpPr>
        <p:spPr>
          <a:xfrm>
            <a:off x="8432589" y="2629661"/>
            <a:ext cx="32511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Relational tables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432589" y="3044527"/>
            <a:ext cx="325111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Translate the blueprint into related database structures.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04792" y="5594846"/>
            <a:ext cx="1188690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Designing first clarifies requirements and reduces rework.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267029-1F06-40CA-335A-3D0D6D2BC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943" y="6530139"/>
            <a:ext cx="1752752" cy="2743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23850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100" spc="63" dirty="0">
                <a:solidFill>
                  <a:srgbClr val="963C21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02 · ENTITIES AND ATTRIBUTES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22660"/>
            <a:ext cx="11582110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Entities hold the objects; attributes describe them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04792" y="1393395"/>
            <a:ext cx="407917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Core entities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04792" y="1786037"/>
            <a:ext cx="4079178" cy="815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83000"/>
              </a:lnSpc>
              <a:buSzPct val="100000"/>
              <a:buChar char="•"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STUDENT</a:t>
            </a:r>
            <a:endParaRPr lang="en-US" sz="1400" dirty="0"/>
          </a:p>
          <a:p>
            <a:pPr marL="284480" indent="-284480" algn="l">
              <a:lnSpc>
                <a:spcPct val="83000"/>
              </a:lnSpc>
              <a:buSzPct val="100000"/>
              <a:buChar char="•"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COURSE</a:t>
            </a:r>
            <a:endParaRPr lang="en-US" sz="1400" dirty="0"/>
          </a:p>
          <a:p>
            <a:pPr marL="284480" indent="-284480" algn="l">
              <a:lnSpc>
                <a:spcPct val="83000"/>
              </a:lnSpc>
              <a:buSzPct val="100000"/>
              <a:buChar char="•"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DEPARTMENT</a:t>
            </a:r>
            <a:endParaRPr lang="en-US" sz="1400" dirty="0"/>
          </a:p>
          <a:p>
            <a:pPr marL="284480" indent="-284480" algn="l">
              <a:lnSpc>
                <a:spcPct val="83000"/>
              </a:lnSpc>
              <a:buSzPct val="100000"/>
              <a:buChar char="•"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INSTRUCTOR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4792" y="2681387"/>
            <a:ext cx="4079178" cy="612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Attributes capture properties such as Student_ID, Name, Email, Credits, and Department_Name.</a:t>
            </a:r>
            <a:endParaRPr lang="en-US" sz="1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2B2622"/>
                </a:solidFill>
                <a:latin typeface="Darker Grotesque Bold" pitchFamily="34" charset="0"/>
                <a:ea typeface="Darker Grotesque Bold" pitchFamily="34" charset="-122"/>
                <a:cs typeface="Darker Grotesque Bold" pitchFamily="34" charset="-120"/>
              </a:rPr>
              <a:t>A key attribute uniquely identifies each entity instance.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48344" y="2463105"/>
            <a:ext cx="2054967" cy="892473"/>
          </a:xfrm>
          <a:prstGeom prst="rect">
            <a:avLst/>
          </a:prstGeom>
          <a:solidFill>
            <a:srgbClr val="E85C33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77236" y="2720347"/>
            <a:ext cx="1597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STUDENT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99319" y="1594148"/>
            <a:ext cx="1667429" cy="610592"/>
          </a:xfrm>
          <a:prstGeom prst="ellipse">
            <a:avLst/>
          </a:prstGeom>
          <a:solidFill>
            <a:srgbClr val="CCC5BA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6490" y="1810186"/>
            <a:ext cx="1913088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50" u="sng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Student_ID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169862" y="3754934"/>
            <a:ext cx="1409069" cy="610592"/>
          </a:xfrm>
          <a:prstGeom prst="ellipse">
            <a:avLst/>
          </a:prstGeom>
          <a:solidFill>
            <a:srgbClr val="CCC5BA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35226" y="3970872"/>
            <a:ext cx="1678243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Name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984431" y="1594148"/>
            <a:ext cx="1409069" cy="610592"/>
          </a:xfrm>
          <a:prstGeom prst="ellipse">
            <a:avLst/>
          </a:prstGeom>
          <a:solidFill>
            <a:srgbClr val="CCC5BA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49893" y="1810186"/>
            <a:ext cx="1678243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Email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984431" y="3754934"/>
            <a:ext cx="1409069" cy="610592"/>
          </a:xfrm>
          <a:prstGeom prst="ellipse">
            <a:avLst/>
          </a:prstGeom>
          <a:solidFill>
            <a:srgbClr val="CCC5BA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49893" y="3970872"/>
            <a:ext cx="1678243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Key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766847" y="1911251"/>
            <a:ext cx="481397" cy="986433"/>
          </a:xfrm>
          <a:prstGeom prst="line">
            <a:avLst/>
          </a:prstGeom>
          <a:solidFill>
            <a:srgbClr val="A8C5DC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03311" y="2909391"/>
            <a:ext cx="681020" cy="1150838"/>
          </a:xfrm>
          <a:prstGeom prst="line">
            <a:avLst/>
          </a:prstGeom>
          <a:solidFill>
            <a:srgbClr val="A8C5DC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18876" y="4464089"/>
            <a:ext cx="2125510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Rectangle = entity · Oval = attribute</a:t>
            </a:r>
            <a:endParaRPr lang="en-US" sz="16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09BE196-9BEB-948D-BD53-988D5FD58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943" y="6530139"/>
            <a:ext cx="1752752" cy="2743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23850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100" spc="63" dirty="0">
                <a:solidFill>
                  <a:srgbClr val="963C21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03 · RELATIONSHIPS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22660"/>
            <a:ext cx="11582110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Relationships explain what the university does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04792" y="1405037"/>
            <a:ext cx="1188690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Name relationships with verbs so the model reads like the real world.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7240" y="2105620"/>
            <a:ext cx="2180079" cy="844748"/>
          </a:xfrm>
          <a:prstGeom prst="rect">
            <a:avLst/>
          </a:prstGeom>
          <a:solidFill>
            <a:srgbClr val="CCC5BA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4879" y="2361472"/>
            <a:ext cx="178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STUDENT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38737" y="2064742"/>
            <a:ext cx="1975694" cy="926505"/>
          </a:xfrm>
          <a:prstGeom prst="diamond">
            <a:avLst/>
          </a:prstGeom>
          <a:solidFill>
            <a:srgbClr val="A8C5DC"/>
          </a:solidFill>
          <a:ln w="25400">
            <a:solidFill>
              <a:srgbClr val="A8C5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9645" y="2393651"/>
            <a:ext cx="205387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9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enrolls in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095848" y="2105620"/>
            <a:ext cx="2180079" cy="844748"/>
          </a:xfrm>
          <a:prstGeom prst="rect">
            <a:avLst/>
          </a:prstGeom>
          <a:solidFill>
            <a:srgbClr val="CCC5BA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3387" y="2361472"/>
            <a:ext cx="178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COURSE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77240" y="4095055"/>
            <a:ext cx="2180079" cy="844748"/>
          </a:xfrm>
          <a:prstGeom prst="rect">
            <a:avLst/>
          </a:prstGeom>
          <a:solidFill>
            <a:srgbClr val="CCC5BA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4879" y="4350908"/>
            <a:ext cx="178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INSTRUCTOR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38737" y="4054177"/>
            <a:ext cx="1975694" cy="926505"/>
          </a:xfrm>
          <a:prstGeom prst="diamond">
            <a:avLst/>
          </a:prstGeom>
          <a:solidFill>
            <a:srgbClr val="A8C5DC"/>
          </a:solidFill>
          <a:ln w="25400">
            <a:solidFill>
              <a:srgbClr val="A8C5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9645" y="4383086"/>
            <a:ext cx="205387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9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teaches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095848" y="4095055"/>
            <a:ext cx="2180079" cy="844748"/>
          </a:xfrm>
          <a:prstGeom prst="rect">
            <a:avLst/>
          </a:prstGeom>
          <a:solidFill>
            <a:srgbClr val="CCC5BA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3387" y="4350908"/>
            <a:ext cx="178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COURSE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23213" y="2243831"/>
            <a:ext cx="2602542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b="1" dirty="0">
                <a:solidFill>
                  <a:srgbClr val="2B2622"/>
                </a:solidFill>
                <a:latin typeface="Darker Grotesque Bold" pitchFamily="34" charset="0"/>
                <a:ea typeface="Darker Grotesque Bold" pitchFamily="34" charset="-122"/>
                <a:cs typeface="Darker Grotesque Bold" pitchFamily="34" charset="-120"/>
              </a:rPr>
              <a:t>DEPARTMENT employs INSTRUCTOR</a:t>
            </a:r>
            <a:endParaRPr lang="en-US" sz="195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19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DEPARTMENT offers COURSE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923213" y="4151510"/>
            <a:ext cx="2602542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Rectangles represent entities. Diamonds represent relationships. Links carry the verb.</a:t>
            </a:r>
            <a:endParaRPr lang="en-US" sz="1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38EEC8-13B5-6406-E3F6-C29298E4D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943" y="6530139"/>
            <a:ext cx="1752752" cy="274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23850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100" spc="63" dirty="0">
                <a:solidFill>
                  <a:srgbClr val="963C21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05 · ASSOCIATIVE ENTITY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22660"/>
            <a:ext cx="11582110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Enrollment resolves the many-to-many relationship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04792" y="1382811"/>
            <a:ext cx="6304102" cy="3229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3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DEPARTMENT offers COURSE: one department to many courses.</a:t>
            </a:r>
            <a:endParaRPr lang="en-US" sz="2800" dirty="0"/>
          </a:p>
          <a:p>
            <a:pPr marL="0" indent="0" algn="l">
              <a:lnSpc>
                <a:spcPct val="83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DEPARTMENT employs INSTRUCTOR: one department to many instructors.</a:t>
            </a:r>
            <a:endParaRPr lang="en-US" sz="2800" dirty="0"/>
          </a:p>
          <a:p>
            <a:pPr marL="0" indent="0" algn="l">
              <a:lnSpc>
                <a:spcPct val="83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STUDENT and COURSE connect through ENROLLMENT, which stores Semester and Grade.</a:t>
            </a:r>
            <a:endParaRPr lang="en-US" sz="2800" dirty="0"/>
          </a:p>
          <a:p>
            <a:pPr marL="0" indent="0" algn="l">
              <a:lnSpc>
                <a:spcPct val="8300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ENROLLMENT belongs to exactly one STUDENT and one COURSE.</a:t>
            </a:r>
            <a:endParaRPr lang="en-US" sz="2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2800" b="1" dirty="0">
                <a:solidFill>
                  <a:srgbClr val="2B2622"/>
                </a:solidFill>
                <a:latin typeface="Darker Grotesque Bold" pitchFamily="34" charset="0"/>
                <a:ea typeface="Darker Grotesque Bold" pitchFamily="34" charset="-122"/>
                <a:cs typeface="Darker Grotesque Bold" pitchFamily="34" charset="-120"/>
              </a:rPr>
              <a:t>Composite key: (Student_ID, Course_ID, Semester)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065984" y="2464495"/>
            <a:ext cx="1316798" cy="705445"/>
          </a:xfrm>
          <a:prstGeom prst="rect">
            <a:avLst/>
          </a:prstGeom>
          <a:solidFill>
            <a:srgbClr val="CCC5BA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01117" y="2696131"/>
            <a:ext cx="104643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STUDENT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69807" y="2464495"/>
            <a:ext cx="1316798" cy="705445"/>
          </a:xfrm>
          <a:prstGeom prst="rect">
            <a:avLst/>
          </a:prstGeom>
          <a:solidFill>
            <a:srgbClr val="CCC5BA"/>
          </a:solidFill>
          <a:ln w="25400">
            <a:solidFill>
              <a:srgbClr val="E85C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04939" y="2696131"/>
            <a:ext cx="104643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COURSE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0817" y="1994198"/>
            <a:ext cx="1434370" cy="1646138"/>
          </a:xfrm>
          <a:prstGeom prst="rect">
            <a:avLst/>
          </a:prstGeom>
          <a:solidFill>
            <a:srgbClr val="A8C5DC"/>
          </a:solidFill>
          <a:ln w="25400">
            <a:solidFill>
              <a:srgbClr val="A8C5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17757" y="2261156"/>
            <a:ext cx="114049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ENROLLMENT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17757" y="2611409"/>
            <a:ext cx="114049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Semester</a:t>
            </a:r>
            <a:endParaRPr lang="en-US" sz="1650" dirty="0"/>
          </a:p>
          <a:p>
            <a:pPr marL="0" indent="0" algn="ctr">
              <a:lnSpc>
                <a:spcPct val="83000"/>
              </a:lnSpc>
              <a:buNone/>
            </a:pPr>
            <a:r>
              <a:rPr lang="en-US" sz="16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Grade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647293" y="3823990"/>
            <a:ext cx="18342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0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PK: Student_ID</a:t>
            </a:r>
            <a:endParaRPr lang="en-US" sz="1050" dirty="0"/>
          </a:p>
          <a:p>
            <a:pPr marL="0" indent="0" algn="ctr">
              <a:lnSpc>
                <a:spcPct val="83000"/>
              </a:lnSpc>
              <a:buNone/>
            </a:pPr>
            <a:r>
              <a:rPr lang="en-US" sz="105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Course_ID · Semester</a:t>
            </a:r>
            <a:endParaRPr lang="en-US" sz="10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06CC11-52FD-00AD-A479-65CEB6090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943" y="6530139"/>
            <a:ext cx="1752752" cy="274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1535212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100" spc="63" dirty="0">
                <a:solidFill>
                  <a:srgbClr val="963C21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07 · DESIGN QUALITY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1734021"/>
            <a:ext cx="11582110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Good ER design prevents predictable database problems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04792" y="3564797"/>
            <a:ext cx="32459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Good design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04792" y="3957439"/>
            <a:ext cx="3245959" cy="949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3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Explicit keys</a:t>
            </a:r>
            <a:endParaRPr lang="en-US" sz="1400" dirty="0"/>
          </a:p>
          <a:p>
            <a:pPr marL="0" indent="0" algn="l">
              <a:lnSpc>
                <a:spcPct val="83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Accurate cardinality</a:t>
            </a:r>
            <a:endParaRPr lang="en-US" sz="1400" dirty="0"/>
          </a:p>
          <a:p>
            <a:pPr marL="0" indent="0" algn="l">
              <a:lnSpc>
                <a:spcPct val="83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Normalized relationships</a:t>
            </a:r>
            <a:endParaRPr lang="en-US" sz="1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Clear constraints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07940" y="3564797"/>
            <a:ext cx="301746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Common mistakes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007940" y="3957439"/>
            <a:ext cx="3017464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3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Missing primary keys</a:t>
            </a:r>
            <a:endParaRPr lang="en-US" sz="1400" dirty="0"/>
          </a:p>
          <a:p>
            <a:pPr marL="0" indent="0" algn="l">
              <a:lnSpc>
                <a:spcPct val="83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Wrong cardinality</a:t>
            </a:r>
            <a:endParaRPr lang="en-US" sz="1400" dirty="0"/>
          </a:p>
          <a:p>
            <a:pPr marL="0" indent="0" algn="l">
              <a:lnSpc>
                <a:spcPct val="83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Unresolved M:N relationships</a:t>
            </a:r>
            <a:endParaRPr lang="en-US" sz="1400" dirty="0"/>
          </a:p>
          <a:p>
            <a:pPr marL="0" indent="0" algn="l">
              <a:lnSpc>
                <a:spcPct val="83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Multiple values in one attribute</a:t>
            </a:r>
            <a:endParaRPr lang="en-US" sz="1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Undocumented participation rules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53999" y="3325614"/>
            <a:ext cx="4632904" cy="2016125"/>
          </a:xfrm>
          <a:custGeom>
            <a:avLst/>
            <a:gdLst/>
            <a:ahLst/>
            <a:cxnLst/>
            <a:rect l="l" t="t" r="r" b="b"/>
            <a:pathLst>
              <a:path w="4632904" h="2016125">
                <a:moveTo>
                  <a:pt x="0" y="0"/>
                </a:moveTo>
                <a:lnTo>
                  <a:pt x="4610679" y="0"/>
                </a:lnTo>
                <a:arcTo wR="22224" hR="22225" stAng="16200000" swAng="5400000"/>
                <a:lnTo>
                  <a:pt x="4632904" y="1993900"/>
                </a:lnTo>
                <a:arcTo wR="22224" hR="22225" stAng="0" swAng="5400000"/>
                <a:lnTo>
                  <a:pt x="0" y="2016125"/>
                </a:lnTo>
                <a:lnTo>
                  <a:pt x="0" y="0"/>
                </a:lnTo>
                <a:close/>
              </a:path>
            </a:pathLst>
          </a:custGeom>
          <a:solidFill>
            <a:srgbClr val="CCC5BA"/>
          </a:solidFill>
          <a:ln/>
        </p:spPr>
      </p:sp>
      <p:sp>
        <p:nvSpPr>
          <p:cNvPr id="9" name="Text 7"/>
          <p:cNvSpPr/>
          <p:nvPr/>
        </p:nvSpPr>
        <p:spPr>
          <a:xfrm>
            <a:off x="7482593" y="3564797"/>
            <a:ext cx="417571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Design result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82593" y="3979664"/>
            <a:ext cx="417571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Clearer requirements, less duplication, better consistency, and easier stakeholder communication.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72996" y="3325614"/>
            <a:ext cx="12700" cy="2016125"/>
          </a:xfrm>
          <a:prstGeom prst="rect">
            <a:avLst/>
          </a:prstGeom>
          <a:solidFill>
            <a:srgbClr val="E85C33"/>
          </a:solidFill>
          <a:ln/>
        </p:spPr>
      </p:sp>
      <p:sp>
        <p:nvSpPr>
          <p:cNvPr id="12" name="Shape 10"/>
          <p:cNvSpPr/>
          <p:nvPr/>
        </p:nvSpPr>
        <p:spPr>
          <a:xfrm>
            <a:off x="7247649" y="3325614"/>
            <a:ext cx="12700" cy="2016125"/>
          </a:xfrm>
          <a:prstGeom prst="rect">
            <a:avLst/>
          </a:prstGeom>
          <a:solidFill>
            <a:srgbClr val="E85C33"/>
          </a:solidFill>
          <a:ln/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988A7D-80B0-D69C-49B5-2779CDF13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943" y="6530139"/>
            <a:ext cx="1752752" cy="274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23850"/>
            <a:ext cx="634478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100" spc="63" dirty="0">
                <a:solidFill>
                  <a:srgbClr val="963C21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08 · THE ACADEMIC LIFECYCLE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22660"/>
            <a:ext cx="6039989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A university ER model supports the full academic lifecycle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04792" y="2856276"/>
            <a:ext cx="28675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Admissions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04792" y="3271143"/>
            <a:ext cx="286754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Student records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7133" y="2856276"/>
            <a:ext cx="28676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Registration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7133" y="3271143"/>
            <a:ext cx="286764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Semester enrollment and grade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4792" y="3919901"/>
            <a:ext cx="28675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Management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4792" y="4334768"/>
            <a:ext cx="286754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Faculty and department management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7133" y="3919901"/>
            <a:ext cx="28676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Reporting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7133" y="4334768"/>
            <a:ext cx="286764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Academic reports built on consistent relational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4792" y="4791968"/>
            <a:ext cx="6039989" cy="835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spcAft>
                <a:spcPts val="950"/>
              </a:spcAft>
              <a:buNone/>
            </a:pPr>
            <a:r>
              <a:rPr lang="en-US" sz="1400" b="1" dirty="0">
                <a:solidFill>
                  <a:srgbClr val="2B2622"/>
                </a:solidFill>
                <a:latin typeface="Darker Grotesque Bold" pitchFamily="34" charset="0"/>
                <a:ea typeface="Darker Grotesque Bold" pitchFamily="34" charset="-122"/>
                <a:cs typeface="Darker Grotesque Bold" pitchFamily="34" charset="-120"/>
              </a:rPr>
              <a:t>Blueprint takeaway:</a:t>
            </a: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 entities represent objects, attributes describe them, relationships connect them, and constraints guide implementation.</a:t>
            </a:r>
            <a:endParaRPr lang="en-US" sz="1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“A well-designed ER model provides a clear blueprint for building a reliable university database.”</a:t>
            </a: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663" y="0"/>
            <a:ext cx="508503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23850"/>
            <a:ext cx="118869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100" spc="63" dirty="0">
                <a:solidFill>
                  <a:srgbClr val="963C21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REFERENCES · QUESTIONS &amp; ANSWERS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622300"/>
            <a:ext cx="1158211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4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References</a:t>
            </a:r>
            <a:endParaRPr lang="en-US" sz="7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2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Questions &amp; Answers</a:t>
            </a:r>
            <a:endParaRPr lang="en-US" sz="7400" dirty="0"/>
          </a:p>
        </p:txBody>
      </p:sp>
      <p:sp>
        <p:nvSpPr>
          <p:cNvPr id="4" name="Shape 2"/>
          <p:cNvSpPr/>
          <p:nvPr/>
        </p:nvSpPr>
        <p:spPr>
          <a:xfrm>
            <a:off x="304792" y="2555875"/>
            <a:ext cx="3822009" cy="38100"/>
          </a:xfrm>
          <a:prstGeom prst="roundRect">
            <a:avLst>
              <a:gd name="adj" fmla="val 49999"/>
            </a:avLst>
          </a:prstGeom>
          <a:solidFill>
            <a:srgbClr val="A8C5DC"/>
          </a:solidFill>
          <a:ln/>
        </p:spPr>
      </p:sp>
      <p:sp>
        <p:nvSpPr>
          <p:cNvPr id="5" name="Text 3"/>
          <p:cNvSpPr/>
          <p:nvPr/>
        </p:nvSpPr>
        <p:spPr>
          <a:xfrm>
            <a:off x="304792" y="3001433"/>
            <a:ext cx="630410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04792" y="3394075"/>
            <a:ext cx="630410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83000"/>
              </a:lnSpc>
              <a:buSzPct val="100000"/>
              <a:buChar char="•"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Ramez Elmasri and Shamkant B. Navathe, </a:t>
            </a:r>
            <a:r>
              <a:rPr lang="en-US" sz="1400" i="1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Fundamentals of Database Systems</a:t>
            </a: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, Pearson.</a:t>
            </a:r>
            <a:endParaRPr lang="en-US" sz="1400" dirty="0"/>
          </a:p>
          <a:p>
            <a:pPr marL="284480" indent="-284480" algn="l">
              <a:lnSpc>
                <a:spcPct val="83000"/>
              </a:lnSpc>
              <a:buSzPct val="100000"/>
              <a:buChar char="•"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Abraham Silberschatz, Henry F. Korth, and S. Sudarshan, </a:t>
            </a:r>
            <a:r>
              <a:rPr lang="en-US" sz="1400" i="1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Database System Concepts</a:t>
            </a: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, McGraw Hill.</a:t>
            </a:r>
            <a:endParaRPr lang="en-US" sz="1400" dirty="0"/>
          </a:p>
          <a:p>
            <a:pPr marL="284480" indent="-284480" algn="l">
              <a:lnSpc>
                <a:spcPct val="83000"/>
              </a:lnSpc>
              <a:buSzPct val="100000"/>
              <a:buChar char="•"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PostgreSQL Documentation, “Database Constraints,” https://www.postgresql.org/docs/current/ddl-constraints.html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65984" y="2762250"/>
            <a:ext cx="4820819" cy="1819275"/>
          </a:xfrm>
          <a:prstGeom prst="rect">
            <a:avLst/>
          </a:prstGeom>
          <a:solidFill>
            <a:srgbClr val="CCC5BA"/>
          </a:solidFill>
          <a:ln/>
        </p:spPr>
      </p:sp>
      <p:sp>
        <p:nvSpPr>
          <p:cNvPr id="8" name="Text 6"/>
          <p:cNvSpPr/>
          <p:nvPr/>
        </p:nvSpPr>
        <p:spPr>
          <a:xfrm>
            <a:off x="7370777" y="3259443"/>
            <a:ext cx="421123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2B2622"/>
                </a:solidFill>
                <a:latin typeface="Darker Grotesque SemiBold" pitchFamily="34" charset="0"/>
                <a:ea typeface="Darker Grotesque SemiBold" pitchFamily="34" charset="-122"/>
                <a:cs typeface="Darker Grotesque SemiBold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70777" y="3946525"/>
            <a:ext cx="451602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Darker Grotesque Medium" pitchFamily="34" charset="0"/>
                <a:ea typeface="Darker Grotesque Medium" pitchFamily="34" charset="-122"/>
                <a:cs typeface="Darker Grotesque Medium" pitchFamily="34" charset="-120"/>
              </a:rPr>
              <a:t>Questions &amp; Answers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9B41F0-43B8-9235-2A77-4615B31CF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943" y="6530139"/>
            <a:ext cx="1752752" cy="2743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747</Words>
  <Application>Microsoft Office PowerPoint</Application>
  <PresentationFormat>Widescreen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Darker Grotesque Bold</vt:lpstr>
      <vt:lpstr>Darker Grotesque Medium</vt:lpstr>
      <vt:lpstr>Arial</vt:lpstr>
      <vt:lpstr>Darker Grotesque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Rohit L</cp:lastModifiedBy>
  <cp:revision>2</cp:revision>
  <dcterms:created xsi:type="dcterms:W3CDTF">2026-10-16T08:02:48Z</dcterms:created>
  <dcterms:modified xsi:type="dcterms:W3CDTF">2026-10-16T08:04:29Z</dcterms:modified>
</cp:coreProperties>
</file>